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8"/>
  </p:notesMasterIdLst>
  <p:sldIdLst>
    <p:sldId id="256" r:id="rId2"/>
    <p:sldId id="257" r:id="rId3"/>
    <p:sldId id="274" r:id="rId4"/>
    <p:sldId id="377" r:id="rId5"/>
    <p:sldId id="314" r:id="rId6"/>
    <p:sldId id="258" r:id="rId7"/>
    <p:sldId id="315" r:id="rId8"/>
    <p:sldId id="259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338" r:id="rId31"/>
    <p:sldId id="339" r:id="rId32"/>
    <p:sldId id="340" r:id="rId33"/>
    <p:sldId id="341" r:id="rId34"/>
    <p:sldId id="342" r:id="rId35"/>
    <p:sldId id="343" r:id="rId36"/>
    <p:sldId id="344" r:id="rId37"/>
    <p:sldId id="345" r:id="rId38"/>
    <p:sldId id="346" r:id="rId39"/>
    <p:sldId id="347" r:id="rId40"/>
    <p:sldId id="348" r:id="rId41"/>
    <p:sldId id="349" r:id="rId42"/>
    <p:sldId id="350" r:id="rId43"/>
    <p:sldId id="351" r:id="rId44"/>
    <p:sldId id="352" r:id="rId45"/>
    <p:sldId id="353" r:id="rId46"/>
    <p:sldId id="354" r:id="rId47"/>
    <p:sldId id="355" r:id="rId48"/>
    <p:sldId id="357" r:id="rId49"/>
    <p:sldId id="358" r:id="rId50"/>
    <p:sldId id="359" r:id="rId51"/>
    <p:sldId id="360" r:id="rId52"/>
    <p:sldId id="361" r:id="rId53"/>
    <p:sldId id="362" r:id="rId54"/>
    <p:sldId id="363" r:id="rId55"/>
    <p:sldId id="364" r:id="rId56"/>
    <p:sldId id="365" r:id="rId57"/>
    <p:sldId id="366" r:id="rId58"/>
    <p:sldId id="367" r:id="rId59"/>
    <p:sldId id="368" r:id="rId60"/>
    <p:sldId id="369" r:id="rId61"/>
    <p:sldId id="370" r:id="rId62"/>
    <p:sldId id="371" r:id="rId63"/>
    <p:sldId id="373" r:id="rId64"/>
    <p:sldId id="374" r:id="rId65"/>
    <p:sldId id="375" r:id="rId66"/>
    <p:sldId id="376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67E36-DF5D-435A-8607-287C58FCDFAC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39FBA-5B95-4FEF-A520-BA30C3553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13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95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3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01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96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8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9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8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917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4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7711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52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29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6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5F92C-D7EC-4CD5-9141-7D234BCB6D32}" type="datetimeFigureOut">
              <a:rPr lang="en-US" smtClean="0"/>
              <a:t>19-Sep-18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8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7E59-F357-4287-A10D-11DE940C1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3:Chuyển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18D40-3745-43F5-8C54-D5BF145FD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PSTN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TDM →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SS7.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SS7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SS7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14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D33385-A4A1-4994-A152-1F6E16305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679" y="212523"/>
            <a:ext cx="8305455" cy="643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6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CE014A-EA47-4916-A645-EBA81ED367C9}"/>
              </a:ext>
            </a:extLst>
          </p:cNvPr>
          <p:cNvSpPr txBox="1"/>
          <p:nvPr/>
        </p:nvSpPr>
        <p:spPr>
          <a:xfrm>
            <a:off x="1814733" y="259659"/>
            <a:ext cx="5570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E685AC-2CE5-4313-81F2-05CEBCF12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16" y="1294601"/>
            <a:ext cx="6949439" cy="458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2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PSTN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136113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4104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PSTN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(99,999%) →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8992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005EE1-A6DD-4967-8C91-C85211C1C2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218" y="0"/>
            <a:ext cx="9407354" cy="677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21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33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IN: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ởng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Nortel: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824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CopperCom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Media Gateway.</a:t>
            </a:r>
          </a:p>
          <a:p>
            <a:pPr marL="0" indent="0" algn="just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Media Gateway Controller.</a:t>
            </a:r>
          </a:p>
        </p:txBody>
      </p:sp>
    </p:spTree>
    <p:extLst>
      <p:ext uri="{BB962C8B-B14F-4D97-AF65-F5344CB8AC3E}">
        <p14:creationId xmlns:p14="http://schemas.microsoft.com/office/powerpoint/2010/main" val="2111460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8715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9436D50E-25A7-4E81-8D72-D845EC0CE8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8763" y="1593727"/>
            <a:ext cx="7413642" cy="432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086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D79FDA-673A-43D5-9F13-A918BA34D1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491" y="1270000"/>
            <a:ext cx="7164973" cy="54966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B9547F-3DFC-43F1-B48B-2176B3223D0A}"/>
              </a:ext>
            </a:extLst>
          </p:cNvPr>
          <p:cNvSpPr/>
          <p:nvPr/>
        </p:nvSpPr>
        <p:spPr>
          <a:xfrm>
            <a:off x="1036491" y="2883879"/>
            <a:ext cx="7164974" cy="118168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513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156E06-1327-4A82-8764-99E2C5D60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556" y="82471"/>
            <a:ext cx="7794826" cy="66067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3FCA6E-C280-4336-8CFF-C159A132EB91}"/>
              </a:ext>
            </a:extLst>
          </p:cNvPr>
          <p:cNvSpPr txBox="1"/>
          <p:nvPr/>
        </p:nvSpPr>
        <p:spPr>
          <a:xfrm>
            <a:off x="8102991" y="1793583"/>
            <a:ext cx="13364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MGC</a:t>
            </a:r>
          </a:p>
        </p:txBody>
      </p:sp>
    </p:spTree>
    <p:extLst>
      <p:ext uri="{BB962C8B-B14F-4D97-AF65-F5344CB8AC3E}">
        <p14:creationId xmlns:p14="http://schemas.microsoft.com/office/powerpoint/2010/main" val="2683721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MGC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4228"/>
            <a:ext cx="8596668" cy="5430129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Gateway.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gateway,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Signalling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MG-F.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SS7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SIGTRAN)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AS-F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8030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H.323, SIP.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Gateway: MGCP,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Megaco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H.248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Signalling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Gateway: SIGTRAN (SS7)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tin: RTP, RTCP.</a:t>
            </a:r>
          </a:p>
        </p:txBody>
      </p:sp>
    </p:spTree>
    <p:extLst>
      <p:ext uri="{BB962C8B-B14F-4D97-AF65-F5344CB8AC3E}">
        <p14:creationId xmlns:p14="http://schemas.microsoft.com/office/powerpoint/2010/main" val="2509032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4282EE-AAF4-4271-8F1D-525BE40C6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46" y="239151"/>
            <a:ext cx="9507117" cy="65231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3FCA6E-C280-4336-8CFF-C159A132EB91}"/>
              </a:ext>
            </a:extLst>
          </p:cNvPr>
          <p:cNvSpPr txBox="1"/>
          <p:nvPr/>
        </p:nvSpPr>
        <p:spPr>
          <a:xfrm>
            <a:off x="7188590" y="829994"/>
            <a:ext cx="24899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584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 lnSpcReduction="10000"/>
          </a:bodyPr>
          <a:lstStyle/>
          <a:p>
            <a:pPr marL="514350" indent="-514350" algn="just">
              <a:buClr>
                <a:srgbClr val="FF0000"/>
              </a:buClr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(PSTN)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off-hook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bao. SG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SS7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bao.</a:t>
            </a:r>
          </a:p>
          <a:p>
            <a:pPr marL="514350" indent="-514350" algn="just">
              <a:buClr>
                <a:srgbClr val="FF0000"/>
              </a:buClr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CA-F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dial tone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bao. (MGC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caller-MGC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359269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 lnSpcReduction="10000"/>
          </a:bodyPr>
          <a:lstStyle/>
          <a:p>
            <a:pPr marL="514350" indent="-514350" algn="just">
              <a:buClr>
                <a:srgbClr val="FF0000"/>
              </a:buClr>
              <a:buFont typeface="+mj-lt"/>
              <a:buAutoNum type="arabicPeriod" startAt="3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Caller-MGC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MGC-F.</a:t>
            </a:r>
          </a:p>
          <a:p>
            <a:pPr marL="514350" indent="-514350" algn="just">
              <a:buClr>
                <a:srgbClr val="FF0000"/>
              </a:buClr>
              <a:buFont typeface="+mj-lt"/>
              <a:buAutoNum type="arabicPeriod" startAt="3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caller-MGC.</a:t>
            </a:r>
          </a:p>
          <a:p>
            <a:pPr marL="514350" indent="-514350" algn="just">
              <a:buClr>
                <a:srgbClr val="FF0000"/>
              </a:buClr>
              <a:buFont typeface="+mj-lt"/>
              <a:buAutoNum type="arabicPeriod" startAt="3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Caller-MGC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R-F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R-F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8554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23888"/>
            <a:ext cx="8596668" cy="5634111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caller-MGC: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7.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caller-MGC: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PSTN: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IW-F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v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943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marL="514350" indent="-514350" algn="just">
              <a:buClr>
                <a:srgbClr val="FF0000"/>
              </a:buClr>
              <a:buFont typeface="+mj-lt"/>
              <a:buAutoNum type="arabicPeriod" startAt="6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Caller-MGC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(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-MGC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CA-F.</a:t>
            </a:r>
          </a:p>
          <a:p>
            <a:pPr marL="514350" indent="-514350" algn="just">
              <a:buClr>
                <a:srgbClr val="FF0000"/>
              </a:buClr>
              <a:buFont typeface="+mj-lt"/>
              <a:buAutoNum type="arabicPeriod" startAt="6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941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 lnSpcReduction="10000"/>
          </a:bodyPr>
          <a:lstStyle/>
          <a:p>
            <a:pPr marL="514350" indent="-514350" algn="just">
              <a:buClr>
                <a:srgbClr val="FF0000"/>
              </a:buClr>
              <a:buFont typeface="+mj-lt"/>
              <a:buAutoNum type="arabicPeriod" startAt="7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 (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Clr>
                <a:srgbClr val="FF0000"/>
              </a:buClr>
              <a:buFont typeface="+mj-lt"/>
              <a:buAutoNum type="arabicPeriod" startAt="7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SS7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Clr>
                <a:srgbClr val="FF0000"/>
              </a:buClr>
              <a:buFont typeface="+mj-lt"/>
              <a:buAutoNum type="arabicPeriod" startAt="7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-MGC.</a:t>
            </a:r>
          </a:p>
          <a:p>
            <a:pPr marL="514350" indent="-514350" algn="just">
              <a:buClr>
                <a:srgbClr val="FF0000"/>
              </a:buClr>
              <a:buFont typeface="+mj-lt"/>
              <a:buAutoNum type="arabicPeriod" startAt="7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580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 lnSpcReduction="10000"/>
          </a:bodyPr>
          <a:lstStyle/>
          <a:p>
            <a:pPr marL="514350" indent="-514350" algn="just">
              <a:buClr>
                <a:srgbClr val="FF0000"/>
              </a:buClr>
              <a:buFont typeface="+mj-lt"/>
              <a:buAutoNum type="arabicPeriod" startAt="10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caller-MGC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Clr>
                <a:srgbClr val="FF0000"/>
              </a:buClr>
              <a:buFont typeface="+mj-lt"/>
              <a:buAutoNum type="arabicPeriod" startAt="10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ring back tone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caller-MGC, qua caller-SG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buClr>
                <a:srgbClr val="FF0000"/>
              </a:buClr>
              <a:buFont typeface="+mj-lt"/>
              <a:buAutoNum type="arabicPeriod" startAt="10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qua SS7,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caller-MGC qua caller-SG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rồi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9886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marL="514350" indent="-514350" algn="just">
              <a:buClr>
                <a:srgbClr val="FF0000"/>
              </a:buClr>
              <a:buFont typeface="+mj-lt"/>
              <a:buAutoNum type="arabicPeriod" startAt="13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caller-MG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-MG.</a:t>
            </a:r>
          </a:p>
          <a:p>
            <a:pPr marL="514350" indent="-514350" algn="just">
              <a:buClr>
                <a:srgbClr val="FF0000"/>
              </a:buClr>
              <a:buFont typeface="+mj-lt"/>
              <a:buAutoNum type="arabicPeriod" startAt="13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dứt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35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9719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dẻo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226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1A1693-7757-4DC6-A27A-F636C8744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246" y="1485973"/>
            <a:ext cx="10964319" cy="537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206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Initiation Protocol (SIP)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IETF,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internet.</a:t>
            </a:r>
          </a:p>
        </p:txBody>
      </p:sp>
    </p:spTree>
    <p:extLst>
      <p:ext uri="{BB962C8B-B14F-4D97-AF65-F5344CB8AC3E}">
        <p14:creationId xmlns:p14="http://schemas.microsoft.com/office/powerpoint/2010/main" val="1470976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(user location):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(name translation)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(feature negotiation);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013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30423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Agent Client (UAC): hay Calling User Agent;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SIP.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Agent Server (UAS): hay Called User Agent;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Redirect Server: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7722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Proxy Server: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SIP.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Proxy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Location/Registration Server: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453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INVITE: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user hay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INVITE.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OPTION: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4903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BYE: UAC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vừa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SIP server.</a:t>
            </a:r>
          </a:p>
        </p:txBody>
      </p:sp>
    </p:spTree>
    <p:extLst>
      <p:ext uri="{BB962C8B-B14F-4D97-AF65-F5344CB8AC3E}">
        <p14:creationId xmlns:p14="http://schemas.microsoft.com/office/powerpoint/2010/main" val="36323775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1xx: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2xx: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3xx: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87392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4xx: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client.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5xx: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server.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6xx: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183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128282-C26E-4069-BFA0-538D7055F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0737178" cy="67524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3FCA6E-C280-4336-8CFF-C159A132EB91}"/>
              </a:ext>
            </a:extLst>
          </p:cNvPr>
          <p:cNvSpPr txBox="1"/>
          <p:nvPr/>
        </p:nvSpPr>
        <p:spPr>
          <a:xfrm>
            <a:off x="1454822" y="2044005"/>
            <a:ext cx="2489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6038155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824D82-DC2D-48BB-88BB-83D3B6134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25" y="103286"/>
            <a:ext cx="9006172" cy="67116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3FCA6E-C280-4336-8CFF-C159A132EB91}"/>
              </a:ext>
            </a:extLst>
          </p:cNvPr>
          <p:cNvSpPr txBox="1"/>
          <p:nvPr/>
        </p:nvSpPr>
        <p:spPr>
          <a:xfrm>
            <a:off x="1131265" y="103286"/>
            <a:ext cx="2489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6933152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MGCP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Gateway Controller Protocol (MGCP)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master/slave.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master: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slave: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 Agent Identifier.</a:t>
            </a:r>
          </a:p>
        </p:txBody>
      </p:sp>
    </p:spTree>
    <p:extLst>
      <p:ext uri="{BB962C8B-B14F-4D97-AF65-F5344CB8AC3E}">
        <p14:creationId xmlns:p14="http://schemas.microsoft.com/office/powerpoint/2010/main" val="34323647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(End point):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(Connection):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(connection identifier) do MG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MGCP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Session Description Protocol (SDP)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(Signal):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07235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(Event):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(Package):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660665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MGCP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header +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(session description).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Action +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TransID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Endpoint + Version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Parameter name: Value </a:t>
            </a:r>
          </a:p>
        </p:txBody>
      </p:sp>
    </p:spTree>
    <p:extLst>
      <p:ext uri="{BB962C8B-B14F-4D97-AF65-F5344CB8AC3E}">
        <p14:creationId xmlns:p14="http://schemas.microsoft.com/office/powerpoint/2010/main" val="28805674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MGCP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header +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(session description).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Response +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TransID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Commentary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Parameter name: Value </a:t>
            </a:r>
          </a:p>
        </p:txBody>
      </p:sp>
    </p:spTree>
    <p:extLst>
      <p:ext uri="{BB962C8B-B14F-4D97-AF65-F5344CB8AC3E}">
        <p14:creationId xmlns:p14="http://schemas.microsoft.com/office/powerpoint/2010/main" val="31005394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MGCP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CRCX: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endpoint.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MDCX: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DLCX: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EPCF: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endpoint.</a:t>
            </a:r>
          </a:p>
        </p:txBody>
      </p:sp>
    </p:spTree>
    <p:extLst>
      <p:ext uri="{BB962C8B-B14F-4D97-AF65-F5344CB8AC3E}">
        <p14:creationId xmlns:p14="http://schemas.microsoft.com/office/powerpoint/2010/main" val="21087547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MGCP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RQNT: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NTFY: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AUCX: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AUEP: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endpoint.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RSIP: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endpoint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7467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SIGTRAN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TCP (Transmission Control Protocol)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SS7.</a:t>
            </a:r>
          </a:p>
        </p:txBody>
      </p:sp>
    </p:spTree>
    <p:extLst>
      <p:ext uri="{BB962C8B-B14F-4D97-AF65-F5344CB8AC3E}">
        <p14:creationId xmlns:p14="http://schemas.microsoft.com/office/powerpoint/2010/main" val="10423214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3FCA6E-C280-4336-8CFF-C159A132EB91}"/>
              </a:ext>
            </a:extLst>
          </p:cNvPr>
          <p:cNvSpPr txBox="1"/>
          <p:nvPr/>
        </p:nvSpPr>
        <p:spPr>
          <a:xfrm>
            <a:off x="5598189" y="1828800"/>
            <a:ext cx="24899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SIGTRAN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96D458-D4E6-4C5D-BD75-529370BD9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566" y="532813"/>
            <a:ext cx="4610256" cy="579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835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SCTP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Control Transport Protocol (SCTP)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SCTP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48313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3FCA6E-C280-4336-8CFF-C159A132EB91}"/>
              </a:ext>
            </a:extLst>
          </p:cNvPr>
          <p:cNvSpPr txBox="1"/>
          <p:nvPr/>
        </p:nvSpPr>
        <p:spPr>
          <a:xfrm>
            <a:off x="5598189" y="1828800"/>
            <a:ext cx="24899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SCTP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5E161A-2832-4D72-901B-6506913E1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197" y="-13990"/>
            <a:ext cx="5238737" cy="687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123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SCTP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startup &amp; teardown: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SCTP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SCTP.</a:t>
            </a:r>
          </a:p>
        </p:txBody>
      </p:sp>
    </p:spTree>
    <p:extLst>
      <p:ext uri="{BB962C8B-B14F-4D97-AF65-F5344CB8AC3E}">
        <p14:creationId xmlns:p14="http://schemas.microsoft.com/office/powerpoint/2010/main" val="14210320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SCTP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Sequenced delivery within streams: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 fragmentation: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01995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SCTP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218" y="1434906"/>
            <a:ext cx="8763784" cy="4588412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 &amp; congestion avoidance: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ng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SCTP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TSN (Transmission Sequence Number). N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 bundling: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SCTP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header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chunk.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validation: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SCTP qua 32 bit check sum.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management: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SCTP </a:t>
            </a:r>
          </a:p>
        </p:txBody>
      </p:sp>
    </p:spTree>
    <p:extLst>
      <p:ext uri="{BB962C8B-B14F-4D97-AF65-F5344CB8AC3E}">
        <p14:creationId xmlns:p14="http://schemas.microsoft.com/office/powerpoint/2010/main" val="25312337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E548D1-F641-4B22-96C1-67CE88EC9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799" y="3964593"/>
            <a:ext cx="7108547" cy="225786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2FCF79-5EEB-42E9-AFEF-B63B357335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6710" y="121174"/>
            <a:ext cx="4527363" cy="3086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3FCA6E-C280-4336-8CFF-C159A132EB91}"/>
              </a:ext>
            </a:extLst>
          </p:cNvPr>
          <p:cNvSpPr txBox="1"/>
          <p:nvPr/>
        </p:nvSpPr>
        <p:spPr>
          <a:xfrm>
            <a:off x="780483" y="3136970"/>
            <a:ext cx="24899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SCTP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F0CD1-F937-4CC7-8ACF-C0E04B81497A}"/>
              </a:ext>
            </a:extLst>
          </p:cNvPr>
          <p:cNvSpPr txBox="1"/>
          <p:nvPr/>
        </p:nvSpPr>
        <p:spPr>
          <a:xfrm>
            <a:off x="1477760" y="6096745"/>
            <a:ext cx="6592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header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SCTP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F5AB647A-1A3D-42F4-9E70-3D7B3F4D39D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23678" y="1890856"/>
            <a:ext cx="3106464" cy="1041009"/>
          </a:xfrm>
          <a:prstGeom prst="bentConnector3">
            <a:avLst>
              <a:gd name="adj1" fmla="val 186"/>
            </a:avLst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1659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header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SCTP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218" y="1659988"/>
            <a:ext cx="8763784" cy="4588412"/>
          </a:xfrm>
        </p:spPr>
        <p:txBody>
          <a:bodyPr>
            <a:no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Source/Destination port number: 16 bit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tag: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Checksum: 32 bit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checksum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SCTP.</a:t>
            </a:r>
          </a:p>
        </p:txBody>
      </p:sp>
    </p:spTree>
    <p:extLst>
      <p:ext uri="{BB962C8B-B14F-4D97-AF65-F5344CB8AC3E}">
        <p14:creationId xmlns:p14="http://schemas.microsoft.com/office/powerpoint/2010/main" val="29144343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RTP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Protocol (RTP)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RTCP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UDP.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(sequence number)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(timestamp).</a:t>
            </a:r>
          </a:p>
        </p:txBody>
      </p:sp>
    </p:spTree>
    <p:extLst>
      <p:ext uri="{BB962C8B-B14F-4D97-AF65-F5344CB8AC3E}">
        <p14:creationId xmlns:p14="http://schemas.microsoft.com/office/powerpoint/2010/main" val="35002073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3FCA6E-C280-4336-8CFF-C159A132EB91}"/>
              </a:ext>
            </a:extLst>
          </p:cNvPr>
          <p:cNvSpPr txBox="1"/>
          <p:nvPr/>
        </p:nvSpPr>
        <p:spPr>
          <a:xfrm>
            <a:off x="3220749" y="1252025"/>
            <a:ext cx="3039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RTP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BEBD67-5C53-45E6-A7A1-9EEC13935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678" y="293871"/>
            <a:ext cx="6124347" cy="803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798D89-47DA-48FB-A468-FAC824A5F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15" y="1929990"/>
            <a:ext cx="8491266" cy="39657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64409A-F683-46B5-B14D-10EE0E9A47CD}"/>
              </a:ext>
            </a:extLst>
          </p:cNvPr>
          <p:cNvSpPr txBox="1"/>
          <p:nvPr/>
        </p:nvSpPr>
        <p:spPr>
          <a:xfrm>
            <a:off x="3220749" y="6040909"/>
            <a:ext cx="4009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RTP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EBCCEE-3AC6-43BF-9CF6-188914A70725}"/>
              </a:ext>
            </a:extLst>
          </p:cNvPr>
          <p:cNvCxnSpPr/>
          <p:nvPr/>
        </p:nvCxnSpPr>
        <p:spPr>
          <a:xfrm>
            <a:off x="1237957" y="1097280"/>
            <a:ext cx="0" cy="97067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148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RTP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RTP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RTP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bit 0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M: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17634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RTP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989"/>
            <a:ext cx="8596668" cy="4588412"/>
          </a:xfrm>
        </p:spPr>
        <p:txBody>
          <a:bodyPr>
            <a:noAutofit/>
          </a:bodyPr>
          <a:lstStyle/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PT: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number: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Timestamp: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octet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Synchronising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 (SSRC) Identifier: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Contributing Source (CCRC) Identifier: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SSRC.</a:t>
            </a:r>
          </a:p>
        </p:txBody>
      </p:sp>
    </p:spTree>
    <p:extLst>
      <p:ext uri="{BB962C8B-B14F-4D97-AF65-F5344CB8AC3E}">
        <p14:creationId xmlns:p14="http://schemas.microsoft.com/office/powerpoint/2010/main" val="15814172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996" y="103945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F4B8680-71C2-473C-90E4-0A3BD3462B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7793714"/>
              </p:ext>
            </p:extLst>
          </p:nvPr>
        </p:nvGraphicFramePr>
        <p:xfrm>
          <a:off x="354306" y="764345"/>
          <a:ext cx="10843578" cy="591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4526">
                  <a:extLst>
                    <a:ext uri="{9D8B030D-6E8A-4147-A177-3AD203B41FA5}">
                      <a16:colId xmlns:a16="http://schemas.microsoft.com/office/drawing/2014/main" val="3575507387"/>
                    </a:ext>
                  </a:extLst>
                </a:gridCol>
                <a:gridCol w="3614526">
                  <a:extLst>
                    <a:ext uri="{9D8B030D-6E8A-4147-A177-3AD203B41FA5}">
                      <a16:colId xmlns:a16="http://schemas.microsoft.com/office/drawing/2014/main" val="969634245"/>
                    </a:ext>
                  </a:extLst>
                </a:gridCol>
                <a:gridCol w="3614526">
                  <a:extLst>
                    <a:ext uri="{9D8B030D-6E8A-4147-A177-3AD203B41FA5}">
                      <a16:colId xmlns:a16="http://schemas.microsoft.com/office/drawing/2014/main" val="4120714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Đặc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endParaRPr lang="en-US" sz="3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mạch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mềm</a:t>
                      </a:r>
                      <a:endParaRPr lang="en-US" sz="3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mạch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kênh</a:t>
                      </a:r>
                      <a:endParaRPr lang="en-US" sz="3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840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r>
                        <a:rPr lang="vi-V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mạch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</a:t>
                      </a:r>
                      <a:r>
                        <a:rPr lang="vi-V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bản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Dựa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trên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mềm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Dựa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trên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“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kênh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190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Sự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thuộc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giữa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mềm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cứng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556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Cấu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trúc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module,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dựa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trên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chuẩn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mở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Độc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nhất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670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linh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Thấp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94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Khả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tích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úng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bên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Dễ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dàng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Khó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khăn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016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3475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996" y="103945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F4B8680-71C2-473C-90E4-0A3BD3462B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6822752"/>
              </p:ext>
            </p:extLst>
          </p:nvPr>
        </p:nvGraphicFramePr>
        <p:xfrm>
          <a:off x="326171" y="1059766"/>
          <a:ext cx="10843578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4526">
                  <a:extLst>
                    <a:ext uri="{9D8B030D-6E8A-4147-A177-3AD203B41FA5}">
                      <a16:colId xmlns:a16="http://schemas.microsoft.com/office/drawing/2014/main" val="3575507387"/>
                    </a:ext>
                  </a:extLst>
                </a:gridCol>
                <a:gridCol w="3614526">
                  <a:extLst>
                    <a:ext uri="{9D8B030D-6E8A-4147-A177-3AD203B41FA5}">
                      <a16:colId xmlns:a16="http://schemas.microsoft.com/office/drawing/2014/main" val="969634245"/>
                    </a:ext>
                  </a:extLst>
                </a:gridCol>
                <a:gridCol w="3614526">
                  <a:extLst>
                    <a:ext uri="{9D8B030D-6E8A-4147-A177-3AD203B41FA5}">
                      <a16:colId xmlns:a16="http://schemas.microsoft.com/office/drawing/2014/main" val="4120714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Đặc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endParaRPr lang="en-US" sz="3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mạch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mềm</a:t>
                      </a:r>
                      <a:endParaRPr lang="en-US" sz="3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mạch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kênh</a:t>
                      </a:r>
                      <a:endParaRPr lang="en-US" sz="3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840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Khả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thay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đổi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Khó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khăn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190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thành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quá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mắc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rẻ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</a:t>
                      </a:r>
                      <a:r>
                        <a:rPr lang="vi-V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40%)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Mắc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556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Khả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mở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rộng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Dễ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dàng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</a:t>
                      </a:r>
                      <a:r>
                        <a:rPr lang="vi-V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ợng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Đòi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hỏi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thêm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bị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670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vi-V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thích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một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mạch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nhỏ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ít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khách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Lắp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đặt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đài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một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</a:t>
                      </a:r>
                      <a:r>
                        <a:rPr lang="vi-V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ợng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khách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hàng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947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3338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996" y="103945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F4B8680-71C2-473C-90E4-0A3BD3462B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7260855"/>
              </p:ext>
            </p:extLst>
          </p:nvPr>
        </p:nvGraphicFramePr>
        <p:xfrm>
          <a:off x="354306" y="764345"/>
          <a:ext cx="10843578" cy="600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4526">
                  <a:extLst>
                    <a:ext uri="{9D8B030D-6E8A-4147-A177-3AD203B41FA5}">
                      <a16:colId xmlns:a16="http://schemas.microsoft.com/office/drawing/2014/main" val="3575507387"/>
                    </a:ext>
                  </a:extLst>
                </a:gridCol>
                <a:gridCol w="3614526">
                  <a:extLst>
                    <a:ext uri="{9D8B030D-6E8A-4147-A177-3AD203B41FA5}">
                      <a16:colId xmlns:a16="http://schemas.microsoft.com/office/drawing/2014/main" val="969634245"/>
                    </a:ext>
                  </a:extLst>
                </a:gridCol>
                <a:gridCol w="3614526">
                  <a:extLst>
                    <a:ext uri="{9D8B030D-6E8A-4147-A177-3AD203B41FA5}">
                      <a16:colId xmlns:a16="http://schemas.microsoft.com/office/drawing/2014/main" val="4120714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Đặc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endParaRPr lang="en-US" sz="3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mạch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mềm</a:t>
                      </a:r>
                      <a:endParaRPr lang="en-US" sz="3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mạch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kênh</a:t>
                      </a:r>
                      <a:endParaRPr lang="en-US" sz="3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840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Khả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sử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đa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r>
                        <a:rPr lang="vi-V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tiện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Dễ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dàng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nhiều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Rất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chế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190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truyền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</a:t>
                      </a:r>
                      <a:r>
                        <a:rPr lang="vi-V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ợng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tốt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</a:t>
                      </a:r>
                      <a:r>
                        <a:rPr lang="vi-V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ơ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hỗ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trợ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556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hỗ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trợ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Thoại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video, fax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Chủ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yếu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thoại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670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dài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cuộc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gọi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giới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vi-V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ờng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ngắn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94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</a:t>
                      </a:r>
                      <a:r>
                        <a:rPr lang="vi-V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ợng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dịch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Tốt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Tốt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15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cứng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Nhỏ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gọn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Lớn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chiếm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016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3374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DF4A9E-F769-4850-B265-506E4F647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829" y="123373"/>
            <a:ext cx="6096000" cy="3848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EF3CA4-F117-4EBB-910E-8FF4D5F03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413" y="123373"/>
            <a:ext cx="44481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025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C946E57-ED8E-4485-8B30-4A6EE784A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7" y="2031858"/>
            <a:ext cx="8993781" cy="4592279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FE24ACA-250B-4FED-A3C5-40562978A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1097" y="233863"/>
            <a:ext cx="7803235" cy="153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7012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925DB6-06A2-48F1-B7D0-A3648F7CD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358" y="140677"/>
            <a:ext cx="8294343" cy="279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7664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8C8723-DC46-49E0-8978-D815EFC3B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284" y="384611"/>
            <a:ext cx="8194581" cy="630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018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1751</TotalTime>
  <Words>3620</Words>
  <Application>Microsoft Office PowerPoint</Application>
  <PresentationFormat>Widescreen</PresentationFormat>
  <Paragraphs>266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Chương 3:Chuyển mạch mềm</vt:lpstr>
      <vt:lpstr>Hoạt động của PSTN</vt:lpstr>
      <vt:lpstr>PowerPoint Presentation</vt:lpstr>
      <vt:lpstr>PowerPoint Presentation</vt:lpstr>
      <vt:lpstr>Hoạt động của PSTN</vt:lpstr>
      <vt:lpstr>Nhược điểm của chuyển mạch kênh</vt:lpstr>
      <vt:lpstr>Sự ra đời của chuyển mạch mềm</vt:lpstr>
      <vt:lpstr>PowerPoint Presentation</vt:lpstr>
      <vt:lpstr>Sự ra đời của chuyển mạch mềm</vt:lpstr>
      <vt:lpstr>Khái niệm chuyển mạch mềm</vt:lpstr>
      <vt:lpstr>Khái niệm chuyển mạch mềm</vt:lpstr>
      <vt:lpstr>Lý do tách 2 chức năng</vt:lpstr>
      <vt:lpstr>Vị trí của chuyển mạch mềm</vt:lpstr>
      <vt:lpstr>Thành phần chính của chuyển mạch mềm</vt:lpstr>
      <vt:lpstr>PowerPoint Presentation</vt:lpstr>
      <vt:lpstr>Các chức năng chính của MGC</vt:lpstr>
      <vt:lpstr>Các giao thức MGC có thể sử dụng</vt:lpstr>
      <vt:lpstr>PowerPoint Presentation</vt:lpstr>
      <vt:lpstr>Hoạt động của softwitch</vt:lpstr>
      <vt:lpstr>Hoạt động của softwitch</vt:lpstr>
      <vt:lpstr>Hoạt động của softwitch</vt:lpstr>
      <vt:lpstr>Hoạt động của softwitch</vt:lpstr>
      <vt:lpstr>Hoạt động của softwitch</vt:lpstr>
      <vt:lpstr>Hoạt động của softwitch</vt:lpstr>
      <vt:lpstr>Hoạt động của softwitch</vt:lpstr>
      <vt:lpstr>Ưu điểm của softwitch</vt:lpstr>
      <vt:lpstr>Ưu điểm của softwitch</vt:lpstr>
      <vt:lpstr>Các giao thức hoạt động</vt:lpstr>
      <vt:lpstr>Giao thức SIP</vt:lpstr>
      <vt:lpstr>Chức năng của SIP</vt:lpstr>
      <vt:lpstr>Chức năng của SIP</vt:lpstr>
      <vt:lpstr>Các thành phần của SIP</vt:lpstr>
      <vt:lpstr>Các thành phần của SIP</vt:lpstr>
      <vt:lpstr>Các phương thức sử dụng</vt:lpstr>
      <vt:lpstr>Các phương thức sử dụng</vt:lpstr>
      <vt:lpstr>Các mã đáp ứng của SIP</vt:lpstr>
      <vt:lpstr>Các mã đáp ứng của SIP</vt:lpstr>
      <vt:lpstr>PowerPoint Presentation</vt:lpstr>
      <vt:lpstr>PowerPoint Presentation</vt:lpstr>
      <vt:lpstr>Giao thức MGCP</vt:lpstr>
      <vt:lpstr>Một số khái niệm cơ bản </vt:lpstr>
      <vt:lpstr>Một số khái niệm cơ bản </vt:lpstr>
      <vt:lpstr>Các lệnh của MGCP</vt:lpstr>
      <vt:lpstr>Các lệnh của MGCP</vt:lpstr>
      <vt:lpstr>Các lệnh của MGCP</vt:lpstr>
      <vt:lpstr>Các lệnh của MGCP</vt:lpstr>
      <vt:lpstr>Giao thức SIGTRAN</vt:lpstr>
      <vt:lpstr>PowerPoint Presentation</vt:lpstr>
      <vt:lpstr>Giao thức SCTP</vt:lpstr>
      <vt:lpstr>PowerPoint Presentation</vt:lpstr>
      <vt:lpstr>Chức năng của SCTP</vt:lpstr>
      <vt:lpstr>Chức năng của SCTP</vt:lpstr>
      <vt:lpstr>Chức năng của SCTP</vt:lpstr>
      <vt:lpstr>PowerPoint Presentation</vt:lpstr>
      <vt:lpstr>Cấu trúc của header chung của gói SCTP</vt:lpstr>
      <vt:lpstr>Giao thức RTP</vt:lpstr>
      <vt:lpstr>PowerPoint Presentation</vt:lpstr>
      <vt:lpstr>Header của gói RTP</vt:lpstr>
      <vt:lpstr>Header của gói RTP</vt:lpstr>
      <vt:lpstr>So sánh softwitch và chuyển mạch kênh</vt:lpstr>
      <vt:lpstr>So sánh softwitch và chuyển mạch kênh</vt:lpstr>
      <vt:lpstr>So sánh softwitch và chuyển mạch kênh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mạng thế hệ mới</dc:title>
  <dc:creator>macducdung.angel@outlook.com</dc:creator>
  <cp:lastModifiedBy> </cp:lastModifiedBy>
  <cp:revision>121</cp:revision>
  <dcterms:created xsi:type="dcterms:W3CDTF">2018-06-03T01:24:05Z</dcterms:created>
  <dcterms:modified xsi:type="dcterms:W3CDTF">2018-09-19T00:28:55Z</dcterms:modified>
</cp:coreProperties>
</file>